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57" r:id="rId4"/>
    <p:sldId id="272" r:id="rId5"/>
    <p:sldId id="258" r:id="rId6"/>
    <p:sldId id="259" r:id="rId7"/>
    <p:sldId id="260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75" r:id="rId19"/>
    <p:sldId id="276" r:id="rId20"/>
    <p:sldId id="269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58698-B4F0-7CC6-798E-672E62B971BF}" v="142" dt="2026-05-16T16:34:20.626"/>
    <p1510:client id="{4EA386AB-6E5F-3332-FFE8-43D3335F36B2}" v="38" dt="2026-05-16T21:05:19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518E2-84C3-42EF-9A88-FD3F8A59DD7A}" type="datetimeFigureOut"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5B7C-4DF4-49C4-ACDA-6C3D24F2FA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4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Pena  |  QM 640 Capstone  |  Medicare Part D Analysis  |  Walsh College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Medicare Part D Drug Spending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Identifying Prescriber Outliers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280160" cy="45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 Pharmacy Benefit Management Formulary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Pena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640: Data Analytics Capstone  |  Walsh College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Sanhita Karmakar  |  Spring 2026  |  Interim Report v4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E2761"/>
                </a:solidFill>
                <a:latin typeface="Calibri"/>
              </a:rPr>
              <a:t>This project quantifies Medicare Part D's $275.8B-a-year spending problem and identifies $9.91 billion in defensible annual savings using a fully integrated CMS + Open Payments data pipeline and five complementary analytical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97480" cy="41148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6974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Part D grew $103.7B to $275.8B, brand drugs are 85% of cost, no integrated decision framework exists for PBMs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20240"/>
            <a:ext cx="2697480" cy="41148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6974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4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Five integrated models on full CMS data (27M prescriber rows, 14.7M Open Payments records) plus BRFSS+ACS state demographics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2697480" cy="41148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2697480" cy="502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0604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OLS R² = 0.92, K-means k=4 clusters, η² = 0.139 specialty effect, Open Payments OR = 1.035, $9.91B floor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920240"/>
            <a:ext cx="2697480" cy="41148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920240"/>
            <a:ext cx="2697480" cy="50292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9202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0604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Reproducible, peer-benchmarked savings target for PBMs; transparent open-data pipeline for researchers and policymakers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Part D Spending Is Outpacing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D drug spending grew faster than enrollment, faster than overall healthcare inflation, and is now a top-three pressure point on Medicare Trust Fund solvency.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97480" cy="155448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$275.8B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2023 Part D cost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$103.7B in 2013)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697480" cy="155448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05740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1945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cumulative growth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~10.3% CAGR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697480" cy="155448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5740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945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85.2%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share of total cost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&lt;15% of claims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057400"/>
            <a:ext cx="2697480" cy="155448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205740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1945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81160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Brand-vs-generic cost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 ratio (2023)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Per-beneficiary cost +83.7% vs enrollment +44.8% — this is a price-and-mix problem, not an enrollment problem.</a:t>
            </a:r>
            <a:endParaRPr lang="en-US" sz="1300" dirty="0"/>
          </a:p>
        </p:txBody>
      </p:sp>
      <p:pic>
        <p:nvPicPr>
          <p:cNvPr id="22" name="Image 0" descr="/sessions/practical-trusting-feynman/mnt/Downloads/Final Submission/figures/fig1_total_cost_trend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11247120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Gap Analysis: Why This Project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8"/>
                </a:solidFill>
                <a:latin typeface="Calibri"/>
              </a:rPr>
              <a:t>Existing literature and PBM tools each address a slice of the Part D cost problem. None integrate the three CMS data layers plus Open Payments at the population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577840" cy="4297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73152" cy="4297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Gaps in the existing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50749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Most studies use sample-of-convenience data (single state, single specialty, single drug class).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Few integrate drug-level + prescriber-level + payment-level data in one analytical framework.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Open Payments hypothesis tested mostly within isolated classes (statins, GLP-1s); no full-population test.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Published savings estimates use a single national median benchmark, penalizing legitimately specialty-appropriate brand prescribing.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Substitution-rate assumptions in policy models are rarely accompanied by sensitivity or CI bounds.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PBM internal tools are proprietary, not reproducible by researchers or auditors.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74519"/>
            <a:ext cx="5577840" cy="4297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874519"/>
            <a:ext cx="73152" cy="42976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What this project adds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507492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Full-population analysis on 27M-row CMS prescriber file + 14.7M Open Payments records, NPI-matched.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Five linked models from drug-level OLS to prescriber-level logistic, sharing the same data foundation.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Specialty-median benchmark replaces national median, ensuring fair comparison within clinical context.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RQ5 savings estimate carries explicit 1,000-iteration bootstrap CI and 30-70% substitution sensitivity.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■  All seven BRFSS+ACS demographic predictors documented and reproducible from public CDC and Census sources.</a:t>
            </a:r>
          </a:p>
          <a:p>
            <a:pPr algn="l"/>
            <a:endParaRPr sz="1200" b="0" i="0">
              <a:solidFill>
                <a:srgbClr val="1E2761"/>
              </a:solidFill>
              <a:latin typeface="Calibri"/>
            </a:endParaRPr>
          </a:p>
          <a:p>
            <a:pPr algn="l"/>
            <a:endParaRPr sz="1200" b="0" i="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Research Questions, Five Methods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6400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drug attributes predict 2019-2023 spending growth?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661922"/>
            <a:ext cx="64008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+ 5-fold CV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14173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8229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148840"/>
            <a:ext cx="6400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state-level brand-vs-generic rates vary significantly?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530602"/>
            <a:ext cx="64008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Multivariable OLS (BRFSS+ACS)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2860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124712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8229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017520"/>
            <a:ext cx="6400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Open Payments financial relationships correlate with brand prescribing?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399282"/>
            <a:ext cx="64008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Within-specialty Logistic Regression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315468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124712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40480"/>
            <a:ext cx="8229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04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3886200"/>
            <a:ext cx="6400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K-means identify distinct drug utilization profiles?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267962"/>
            <a:ext cx="64008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(k=4)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402336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709160"/>
            <a:ext cx="8229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4754880"/>
            <a:ext cx="64008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annual savings if high-brand prescribers shifted to specialty median?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17320" y="5136642"/>
            <a:ext cx="64008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+ 1,000-iter Bootstrap CI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489204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892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Three CMS Files, All Public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6576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D Grand Totals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2013-2023  |  11 rows × 30 cols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annual spending, claims, beneficiaries, LIS/non-LIS split. Source for trend analysis and Figure 1-4.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25880"/>
            <a:ext cx="36576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D Spending by Drug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2019-2023  |  3,598 drugs × 50 cols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5146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Drug-level spending, claims, beneficiaries, unit cost. Outcome variable for RQ1 OLS; feature matrix for RQ4 K-means.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3258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325880"/>
            <a:ext cx="36576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1554480"/>
            <a:ext cx="548640" cy="5486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D Prescribers by Drug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|  1.1M rows (200K sampled)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5146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Prescriber-drug-level claim and cost data with NPI, state, specialty. Driver of RQ2 (state ANOVA), RQ3 (specialty proxy), RQ5 (savings simulation).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downloaded from data.cms.gov, no proprietary or restricted access.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Goes: Cost Concentration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4" name="Image 0" descr="/sessions/practical-trusting-feynman/mnt/Downloads/Final Submission/figures/fig5_top20_dru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029200" cy="4754880"/>
          </a:xfrm>
          <a:prstGeom prst="rect">
            <a:avLst/>
          </a:prstGeom>
        </p:spPr>
      </p:pic>
      <p:pic>
        <p:nvPicPr>
          <p:cNvPr id="5" name="Image 1" descr="/sessions/practical-trusting-feynman/mnt/Downloads/Final Submission/figures/fig2_brand_generic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234440"/>
            <a:ext cx="585216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0" y="3749040"/>
            <a:ext cx="5852160" cy="2240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3"/>
          <p:cNvSpPr/>
          <p:nvPr/>
        </p:nvSpPr>
        <p:spPr>
          <a:xfrm>
            <a:off x="5852160" y="3749040"/>
            <a:ext cx="73152" cy="22402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3504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brand drugs, Eliquis, Ozempic, Jardiance, Mounjaro, Trulicity , anchor the top of the distribution.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35040" y="4663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share of total cost rose from 81.5% (2013) to 85.2% (2023) even as generic claim volume kept growing. Brand prescriptions cost 33× generic prescriptions on average, $976 vs. $29.25 per claim in 2023.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82880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80160"/>
            <a:ext cx="9144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CMS Part D Grand Totals (2013-2023)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CMS Drug Spending by Drug (2019-2023, 3,598 drugs)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CMS Prescribers by Drug (2023, 27M rows, 1.1M NPIs)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CMS Open Payments General Payments 2023 (14.7M records, 8.2 GB)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CDC BRFSS Prevalence + Census ACS 2019-2023 5-Year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880360"/>
            <a:ext cx="640080" cy="274320"/>
          </a:xfrm>
          <a:prstGeom prst="downArrow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828800" cy="16459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08960"/>
            <a:ext cx="9144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analysis_v3.py: chunked pyarrow read, NPI groupby, log transforms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op_aggregate_arrow.py: streaming aggregation of 14.7M payment rows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rq2_brfss_ols.py: state-level OLS with 7 demographic predictors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rq3_logistic.py: within-specialty logistic with FE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rq5_full_savings_v2.py: counterfactual + 1,000-iter bootstrap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4709159"/>
            <a:ext cx="640080" cy="274320"/>
          </a:xfrm>
          <a:prstGeom prst="downArrow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828800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937759"/>
            <a:ext cx="91440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24 CSVs (sample size table, OLS coefficients, OR table, bootstrap CIs)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14 figures 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QM640_Interim_Report_v5.pdf (39 pages) + DOCX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QM640_Interim_Presentation.pptx </a:t>
            </a:r>
          </a:p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■  GitHub bundle with README, download_data.sh, requirements.txt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21945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645920" cy="2743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three CMS files, parse pivot Excel headers, retain 3,598 drugs + 200K prescriber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1325880"/>
            <a:ext cx="21945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61488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035808" y="2834640"/>
            <a:ext cx="1645920" cy="2743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301752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skewed predictors; engineer dollar_growth (spend_2023 − spend_2019); brand-flag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65776" y="1325880"/>
            <a:ext cx="21945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3016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84301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65776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40096" y="2834640"/>
            <a:ext cx="1645920" cy="2743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5248656" y="301752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(RQ1) • K-means k=4 (RQ4) • State ANOVA (RQ2) • Specialty ANOVA (RQ3) • Savings simulation (RQ5)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70064" y="1325880"/>
            <a:ext cx="21945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14730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70064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644384" y="2834640"/>
            <a:ext cx="1645920" cy="2743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301752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1988 sample-size check per RQ; ANOVA + Kruskal-Wallis pairing; elbow method; floor/ceiling bounds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74352" y="1325880"/>
            <a:ext cx="21945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51592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45159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74352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948672" y="2834640"/>
            <a:ext cx="1645920" cy="2743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3" name="Text 31"/>
          <p:cNvSpPr/>
          <p:nvPr/>
        </p:nvSpPr>
        <p:spPr>
          <a:xfrm>
            <a:off x="9857232" y="301752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final report from Python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generated .csv files with analysis results.</a:t>
            </a:r>
            <a:endParaRPr lang="en-US" sz="1100">
              <a:solidFill>
                <a:srgbClr val="1E2761"/>
              </a:solidFill>
              <a:ea typeface="Calibri"/>
              <a:cs typeface="Calibri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RQ1, What Drives Drug Spending Growth?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291840" cy="146304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0.913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goodness of fit, n = 3,404 drugs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predictors significant at p &lt; .0001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volume is the dominant signal (β log_claims = 1.94)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contributes positively (β = 0.54); manufacturer count slightly negatively (β = −0.02)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log_dollar_growth replaces % growth, weights drugs by absolute program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spending growth = volume × price × intensity, not enrollment</a:t>
            </a:r>
            <a:endParaRPr lang="en-US" sz="1300" dirty="0"/>
          </a:p>
        </p:txBody>
      </p:sp>
      <p:pic>
        <p:nvPicPr>
          <p:cNvPr id="9" name="Image 0" descr="/sessions/practical-trusting-feynman/mnt/Downloads/Final Submission/figures/fig8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960" y="1280160"/>
            <a:ext cx="6555360" cy="4582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5486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 Predicted vs. actual log(spend) and residuals.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RQ4, Four Distinct Drug Profiles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6606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766060" cy="4114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High-Spend High-Growth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845 drugs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4917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Eliquis (+$11B), Ozempic (+$8.6B), Jardiance (+$7.4B), Trulicity (+$5.1B), Mounjaro (+$2.4B)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formulary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6140" y="1188720"/>
            <a:ext cx="276606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406140" y="1188720"/>
            <a:ext cx="27660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06140" y="11887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High-Cost Specialty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6140" y="16916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821 drugs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3300" y="2148840"/>
            <a:ext cx="24917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unit cost $314; biologics, oncology, rare disease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3300" y="34290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substitution options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188720"/>
            <a:ext cx="276606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188720"/>
            <a:ext cx="2766060" cy="4114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1887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High-Volume Generic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6916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743 drugs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4917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claims, negative dollar growth, generic conversion working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04020" y="1188720"/>
            <a:ext cx="276606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4020" y="1188720"/>
            <a:ext cx="2766060" cy="411480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24" name="Text 22"/>
          <p:cNvSpPr/>
          <p:nvPr/>
        </p:nvSpPr>
        <p:spPr>
          <a:xfrm>
            <a:off x="9304020" y="11887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Low-Impact Declining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04020" y="16916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1,189 drugs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41180" y="2148840"/>
            <a:ext cx="24917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spend, shrinking, minimal formulary relevance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41180" y="34290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/ monitor</a:t>
            </a:r>
            <a:endParaRPr lang="en-US" sz="1100" dirty="0"/>
          </a:p>
        </p:txBody>
      </p:sp>
      <p:pic>
        <p:nvPicPr>
          <p:cNvPr id="28" name="Image 0" descr="/sessions/practical-trusting-feynman/mnt/Downloads/Final Submission/figures/fig9_cluster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4069080"/>
            <a:ext cx="10332720" cy="237744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RQ2: State Demographics Drive Brand Share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61188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179.5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345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Full-file ANOVA, 54 states, n = 995,954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61188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3716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0.61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34840" y="20345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BRFSS+ACS OLS, n = 51 (50 states + DC)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65760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37160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η² = 0.01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29600" y="20345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alone explains only ~1% of variance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as a categorical factor explains only ~1% of prescriber brand-share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7 BRFSS+ACS state demographics together explain ~61% of state-level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predictors: age 65+ (negative), hypertension (positive), obesity and uninsured rate (both negative)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demographics matter more than geographic identity per se</a:t>
            </a:r>
            <a:endParaRPr lang="en-US" sz="1200" dirty="0"/>
          </a:p>
        </p:txBody>
      </p:sp>
      <p:pic>
        <p:nvPicPr>
          <p:cNvPr id="17" name="Image 0" descr="/sessions/practical-trusting-feynman/mnt/Downloads/Final Submission/figures/fig12_state_brand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11247120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RQ3: Open Payments Predicts Brand Prescribing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61188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345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 D prescribers have Open Payments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61188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3716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1.09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34840" y="20345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$1K+ payments raise above-median odds 9.3%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657600" cy="137160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371600"/>
            <a:ext cx="3337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0.95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29600" y="20345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alone: NEGATIVE association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112471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Within-specialty logistic on 650,861 prescribers; LR test p &lt; .0001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fees (OR=1.024), large payments (OR=1.094), total exposure (OR=1.035) all positive and significant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Food-and-beverage payments alone trend negative, the signal lives in larger, targeted transfers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Specialty ANOVA is statistically significant : F=5,509, n^2=0.139 </a:t>
            </a:r>
            <a:endParaRPr lang="en-US" sz="1200" dirty="0"/>
          </a:p>
        </p:txBody>
      </p:sp>
      <p:pic>
        <p:nvPicPr>
          <p:cNvPr id="17" name="Image 0" descr="/sessions/practical-trusting-feynman/mnt/Downloads/Final Submission/figures/fig13_specialty_brand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11247120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RQ5: $9.91B Annual Savings (95% CI $9.59B-$10.26B)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5120640" cy="2468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$9.91B / year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estimate, 50% substitution per Choudhry et al. (2011). 95% bootstrap CI: $9.59B-$10.26B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of total 2023 Part D ($275.8B), real, recurring, but bounded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378440"/>
            <a:ext cx="5973600" cy="231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Substitutable-pair cost differential: $316.86 per claim (368 brand-generic pairs identified)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Per-prescriber excess brand share above specialty median, full 1.1M-NPI file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specialties by ceiling: Family Practice, Internal Medicine, Nurse Practitioners</a:t>
            </a:r>
            <a:endParaRPr lang="en-US" sz="1300" dirty="0"/>
          </a:p>
        </p:txBody>
      </p:sp>
      <p:pic>
        <p:nvPicPr>
          <p:cNvPr id="9" name="Image 0" descr="/sessions/practical-trusting-feynman/mnt/Downloads/Final Submission/figures/fig14_savings_dist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247120" cy="2697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RQ Has Statistical Power to Detect Real Effects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minimums computed a priori (Cohen 1988): α = .05, power = 0.80, medium effects.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3017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RQ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Test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Minimum 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Achieved 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Status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OLS + 5-fold Cross-Validation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Full-file ANOVA + BRFSS+ACS 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995,699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ANOVA + Open Payments Logistic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650,861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clustering, 50 per 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mean + 1,000-iter Bootstrap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995,954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257800"/>
            <a:ext cx="73152" cy="10972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303520"/>
            <a:ext cx="11018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question clears its statistical-power threshold by a wide margin, most by 5-15×. Results are not chance findings.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Findings That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growth is price × intensity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confirms claims, unit cost, and dollar growth, not enrollment, explain 91% of log-spending. Formulary intensity is the lever.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GLP-1s, DOACs, SGLT2s anchor the cost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isolates 845 drugs as the High-Spend High-Growth cluster. Eliquis, Ozempic, Jardiance, Trulicity, Mounjaro added $34B+ in spend.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demographics drive brand share, state identity does not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as a factor: η² = 0.01. Seven BRFSS+ACS demographics together: R² = 0.61. Specialty is even stronger (η² = 0.139).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Payments significantly predicts brand prescribing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on 650,861 physicians: total payment OR=1.035, speaker fees OR=1.024, large $1K+ payments OR=1.094. Food-and-beverage alone is negative; the signal lives in larger, targeted transfers.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$9.91B annual savings (95% CI $9.59B-$10.26B)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Full-population bootstrap estimate using a substitutable-pair cost differential. About 3.6% of total Part D 2023 spend, recurring every year.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Implementation: How a PBM Uses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8"/>
                </a:solidFill>
                <a:latin typeface="Calibri"/>
              </a:rPr>
              <a:t>The pipeline produces actionable outputs at quarterly, monthly, and ad-hoc cadences for four distinct PBM stakeholders.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532120" cy="2331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" cy="2331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Formulary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2578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Quarterly: rerun pipeline on the new CMS data drop. Pull rq5_savings_by_specialty.csv to prioritize the top 5 specialties for brand-to-generic intervention. Use K-means cluster output to flag drugs graduating into the High-Spend High-Growth segment for utilization-management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532120" cy="2331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73152" cy="2331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Prescriber Engagement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Monthly: pull rq5_prescriber_savings.csv, filter to above-specialty-median prescribers in the team's covered region, and route each one to outreach. The model gives each prescriber a specialty-fair benchmark, not a national benchmark, which significantly reduces clinical-validity pushback.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532120" cy="2331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73152" cy="23317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Compliance &amp; Open Payments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2578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761"/>
                </a:solidFill>
                <a:latin typeface="Calibri"/>
              </a:rPr>
              <a:t>Ongoing: cross-reference Open Payments NPI summary with internal prescriber lists. The logistic-regression odds ratios provide a defensible quantitative threshold for what payment </a:t>
            </a:r>
            <a:r>
              <a:rPr sz="1100" b="0" i="0">
                <a:solidFill>
                  <a:srgbClr val="1E2761"/>
                </a:solidFill>
                <a:latin typeface="Calibri"/>
              </a:rPr>
              <a:t>exposure level warrants compliance review</a:t>
            </a:r>
            <a:r>
              <a:rPr lang="en-US" sz="1100">
                <a:solidFill>
                  <a:srgbClr val="1E2761"/>
                </a:solidFill>
                <a:latin typeface="Calibri"/>
              </a:rPr>
              <a:t>.</a:t>
            </a:r>
            <a:endParaRPr lang="en-US" sz="1100" b="0" i="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4297680"/>
            <a:ext cx="5532120" cy="2331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297680"/>
            <a:ext cx="73152" cy="233172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Finance &amp; Plan Sponsor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46320"/>
            <a:ext cx="52578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761"/>
                </a:solidFill>
                <a:latin typeface="Calibri"/>
              </a:rPr>
              <a:t>Annual: $9.91B floor (95% CI $9.59B-$10.26B) gives plan sponsors a board-defensible </a:t>
            </a:r>
            <a:r>
              <a:rPr sz="1100" b="0" i="0">
                <a:solidFill>
                  <a:srgbClr val="1E2761"/>
                </a:solidFill>
                <a:latin typeface="Calibri"/>
              </a:rPr>
              <a:t>savings forecast. </a:t>
            </a:r>
            <a:r>
              <a:rPr lang="en-US" sz="1100">
                <a:solidFill>
                  <a:srgbClr val="1E2761"/>
                </a:solidFill>
                <a:latin typeface="Calibri"/>
              </a:rPr>
              <a:t>Sensitivity</a:t>
            </a:r>
            <a:r>
              <a:rPr sz="1100" b="0" i="0" dirty="0">
                <a:solidFill>
                  <a:srgbClr val="1E2761"/>
                </a:solidFill>
                <a:latin typeface="Calibri"/>
              </a:rPr>
              <a:t> analysis across 30-70% substitution rates lets finance pick the rate that matches their risk tolerance for forecasting.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Quantified Benefit by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8"/>
                </a:solidFill>
                <a:latin typeface="Calibri"/>
              </a:rPr>
              <a:t>The same analytical output drives concrete, measurable value across five stakeholder groups.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8288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What they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182880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Quantified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PBM formulary committees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28600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Specialty-ranked savings target with bootstrap CI; reproducible quarterly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286000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$9.91B floor / $19.83B ceiling per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063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State Medicaid 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06324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Peer benchmark on brand share controlling for state demographics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3063240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8-10 percentage-point spread across states; $1B+ per high-brand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1124712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8404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Plan sponsors and employers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84048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Prescriber-engagement priority list, specialty-fair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840480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0.5-2% of plan-level Rx spend recoverable annually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Health-services researchers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461772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Open methodology and full pipeline; 933,620-physician Open Payments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4617720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Replicates Mitchell et al. 2021 at full-population scale, OR = 1.035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394959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Policymakers and CMS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5394959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Empirical substitution-rate sensitivity bounds for federal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5394959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Range $5.95B (30%) to $13.88B (70%) supports trust-fund forecasting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8"/>
                </a:solidFill>
                <a:latin typeface="Calibri"/>
              </a:rPr>
              <a:t>The project answers all five research questions on the full Medicare Part D datasets, with reproducible methodology and explicit uncertainty bounds.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96596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Spending growth is price and intensity, not enrollment.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58568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OLS confirms claims volume, unit cost, and dollar growth, not enrollment, drive 92% of log-spending variance. Formulary intensity, not population aging, is the actionable lever.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71216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71216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Specialty is the strongest organizing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63824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Specialty explains 14% of prescriber brand-share variance; state explains 1%. PBM interventions targeted by specialty have more leverage than those targeted by geography.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76471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7647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85031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Open Payments has a real, within-specialty effect.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69079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Logistic regression on 650,861 prescribers confirms total industry payment exposure raises above-median brand prescribing odds 3.5% per log dollar, with speaker fees the largest contributor.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681727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681727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902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$9.91B in defensible annual savings is on the 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74336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Bootstrap CI [$9.59B-$10.26B] using a substitutable-pair cost differential and a 50% substitution rate from Choudhry et al. 2011. About 3.6% of total Part D 2023 spend, recurring.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586983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586983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  <a:latin typeface="Georg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9554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The methodology is reproducible end-to-end.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79592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1E2761"/>
                </a:solidFill>
                <a:latin typeface="Calibri"/>
              </a:rPr>
              <a:t>Every number in the report reads live from CSVs produced by an open pipeline. </a:t>
            </a:r>
            <a:r>
              <a:rPr lang="en-US" sz="1100">
                <a:solidFill>
                  <a:srgbClr val="1E2761"/>
                </a:solidFill>
                <a:latin typeface="Calibri"/>
              </a:rPr>
              <a:t>The GitHub repo includes data-download script, requirements file, etc.</a:t>
            </a:r>
            <a:endParaRPr sz="1100" b="0" i="0">
              <a:solidFill>
                <a:srgbClr val="1E276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/>
              </a:rPr>
              <a:t>Limitations</a:t>
            </a:r>
            <a:endParaRPr lang="en-US" sz="28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69200" y="1264440"/>
            <a:ext cx="11096400" cy="4999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5029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83800" y="1334520"/>
            <a:ext cx="11090640" cy="4746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endParaRPr lang="en-US" sz="3200" b="1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3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Every association is observational, not causal</a:t>
            </a:r>
            <a:endParaRPr lang="en-US" sz="3200" b="1"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SzPct val="100000"/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3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RQ5 floor uses a single 50% substitution rate (range 30-70% shown in report Table 14)</a:t>
            </a:r>
            <a:endParaRPr lang="en-US" sz="3200"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SzPct val="100000"/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SzPct val="100000"/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endParaRPr lang="en-US" sz="3200" dirty="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3017520"/>
            <a:ext cx="128016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46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Pena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640 Data Analytics Capstone  |  Walsh College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github.com/Apena87/QM-640-Quantitative-Methods-Capstone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640 Capstone Interim Presentation</dc:title>
  <dc:subject>PptxGenJS Presentation</dc:subject>
  <dc:creator>Angel Pena</dc:creator>
  <cp:lastModifiedBy>Angel Pena</cp:lastModifiedBy>
  <cp:revision>42</cp:revision>
  <dcterms:created xsi:type="dcterms:W3CDTF">2026-05-16T16:08:25Z</dcterms:created>
  <dcterms:modified xsi:type="dcterms:W3CDTF">2026-05-16T21:13:31Z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739e05-f771-4c26-ad5d-a9a0d490c88d_Enabled">
    <vt:lpwstr>true</vt:lpwstr>
  </property>
  <property fmtid="{D5CDD505-2E9C-101B-9397-08002B2CF9AE}" pid="3" name="MSIP_Label_4e739e05-f771-4c26-ad5d-a9a0d490c88d_SetDate">
    <vt:lpwstr>2026-05-16T16:22:19Z</vt:lpwstr>
  </property>
  <property fmtid="{D5CDD505-2E9C-101B-9397-08002B2CF9AE}" pid="4" name="MSIP_Label_4e739e05-f771-4c26-ad5d-a9a0d490c88d_Method">
    <vt:lpwstr>Standard</vt:lpwstr>
  </property>
  <property fmtid="{D5CDD505-2E9C-101B-9397-08002B2CF9AE}" pid="5" name="MSIP_Label_4e739e05-f771-4c26-ad5d-a9a0d490c88d_Name">
    <vt:lpwstr>Public</vt:lpwstr>
  </property>
  <property fmtid="{D5CDD505-2E9C-101B-9397-08002B2CF9AE}" pid="6" name="MSIP_Label_4e739e05-f771-4c26-ad5d-a9a0d490c88d_SiteId">
    <vt:lpwstr>5ae65bad-5089-490a-9b9b-53c901ee8758</vt:lpwstr>
  </property>
  <property fmtid="{D5CDD505-2E9C-101B-9397-08002B2CF9AE}" pid="7" name="MSIP_Label_4e739e05-f771-4c26-ad5d-a9a0d490c88d_ActionId">
    <vt:lpwstr>4789cce3-4d11-4f1a-918b-0663b33a97e0</vt:lpwstr>
  </property>
  <property fmtid="{D5CDD505-2E9C-101B-9397-08002B2CF9AE}" pid="8" name="MSIP_Label_4e739e05-f771-4c26-ad5d-a9a0d490c88d_ContentBits">
    <vt:lpwstr>0</vt:lpwstr>
  </property>
  <property fmtid="{D5CDD505-2E9C-101B-9397-08002B2CF9AE}" pid="9" name="MSIP_Label_4e739e05-f771-4c26-ad5d-a9a0d490c88d_Tag">
    <vt:lpwstr>10, 3, 0, 2</vt:lpwstr>
  </property>
</Properties>
</file>